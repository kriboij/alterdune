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Bungee" charset="1" panose="00000000000000000000"/>
      <p:regular r:id="rId23"/>
    </p:embeddedFont>
    <p:embeddedFont>
      <p:font typeface="Krub Bold" charset="1" panose="00000800000000000000"/>
      <p:regular r:id="rId24"/>
    </p:embeddedFont>
    <p:embeddedFont>
      <p:font typeface="Krub" charset="1" panose="00000500000000000000"/>
      <p:regular r:id="rId25"/>
    </p:embeddedFont>
    <p:embeddedFont>
      <p:font typeface="Krub Italics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Servidor:</a:t>
            </a:r>
          </a:p>
          <a:p>
            <a:r>
              <a:rPr lang="en-US"/>
              <a:t>Valida la acción</a:t>
            </a:r>
          </a:p>
          <a:p>
            <a:r>
              <a:rPr lang="en-US"/>
              <a:t>Actualiza el estado de la partida</a:t>
            </a:r>
          </a:p>
          <a:p>
            <a:r>
              <a:rPr lang="en-US"/>
              <a:t>Emite sincronización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7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94468" y="4972679"/>
            <a:ext cx="15418685" cy="184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38"/>
              </a:lnSpc>
            </a:pPr>
            <a:r>
              <a:rPr lang="en-US" sz="12308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ALTERDUNE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652637" y="-721895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29" y="0"/>
                </a:lnTo>
                <a:lnTo>
                  <a:pt x="4062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502124" y="6818096"/>
            <a:ext cx="7183489" cy="880311"/>
            <a:chOff x="0" y="0"/>
            <a:chExt cx="1891948" cy="2318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91948" cy="231851"/>
            </a:xfrm>
            <a:custGeom>
              <a:avLst/>
              <a:gdLst/>
              <a:ahLst/>
              <a:cxnLst/>
              <a:rect r="r" b="b" t="t" l="l"/>
              <a:pathLst>
                <a:path h="231851" w="1891948">
                  <a:moveTo>
                    <a:pt x="54560" y="0"/>
                  </a:moveTo>
                  <a:lnTo>
                    <a:pt x="1837387" y="0"/>
                  </a:lnTo>
                  <a:cubicBezTo>
                    <a:pt x="1867520" y="0"/>
                    <a:pt x="1891948" y="24428"/>
                    <a:pt x="1891948" y="54560"/>
                  </a:cubicBezTo>
                  <a:lnTo>
                    <a:pt x="1891948" y="177291"/>
                  </a:lnTo>
                  <a:cubicBezTo>
                    <a:pt x="1891948" y="191761"/>
                    <a:pt x="1886199" y="205639"/>
                    <a:pt x="1875967" y="215871"/>
                  </a:cubicBezTo>
                  <a:cubicBezTo>
                    <a:pt x="1865735" y="226103"/>
                    <a:pt x="1851858" y="231851"/>
                    <a:pt x="1837387" y="231851"/>
                  </a:cubicBezTo>
                  <a:lnTo>
                    <a:pt x="54560" y="231851"/>
                  </a:lnTo>
                  <a:cubicBezTo>
                    <a:pt x="40090" y="231851"/>
                    <a:pt x="26212" y="226103"/>
                    <a:pt x="15980" y="215871"/>
                  </a:cubicBezTo>
                  <a:cubicBezTo>
                    <a:pt x="5748" y="205639"/>
                    <a:pt x="0" y="191761"/>
                    <a:pt x="0" y="177291"/>
                  </a:cubicBezTo>
                  <a:lnTo>
                    <a:pt x="0" y="54560"/>
                  </a:lnTo>
                  <a:cubicBezTo>
                    <a:pt x="0" y="40090"/>
                    <a:pt x="5748" y="26212"/>
                    <a:pt x="15980" y="15980"/>
                  </a:cubicBezTo>
                  <a:cubicBezTo>
                    <a:pt x="26212" y="5748"/>
                    <a:pt x="40090" y="0"/>
                    <a:pt x="545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91948" cy="269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00712" y="-1889926"/>
            <a:ext cx="4420195" cy="4114800"/>
          </a:xfrm>
          <a:custGeom>
            <a:avLst/>
            <a:gdLst/>
            <a:ahLst/>
            <a:cxnLst/>
            <a:rect r="r" b="b" t="t" l="l"/>
            <a:pathLst>
              <a:path h="4114800" w="4420195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02124" y="6830234"/>
            <a:ext cx="7183489" cy="77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6"/>
              </a:lnSpc>
            </a:pPr>
            <a:r>
              <a:rPr lang="en-US" b="true" sz="4547" spc="50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Proyecto Juego en  Red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0321493">
            <a:off x="6300712" y="8352127"/>
            <a:ext cx="4420195" cy="4114800"/>
          </a:xfrm>
          <a:custGeom>
            <a:avLst/>
            <a:gdLst/>
            <a:ahLst/>
            <a:cxnLst/>
            <a:rect r="r" b="b" t="t" l="l"/>
            <a:pathLst>
              <a:path h="4114800" w="4420195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20655" y="4020636"/>
            <a:ext cx="11246689" cy="1343924"/>
            <a:chOff x="0" y="0"/>
            <a:chExt cx="2962091" cy="353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2091" cy="353955"/>
            </a:xfrm>
            <a:custGeom>
              <a:avLst/>
              <a:gdLst/>
              <a:ahLst/>
              <a:cxnLst/>
              <a:rect r="r" b="b" t="t" l="l"/>
              <a:pathLst>
                <a:path h="353955" w="2962091">
                  <a:moveTo>
                    <a:pt x="34849" y="0"/>
                  </a:moveTo>
                  <a:lnTo>
                    <a:pt x="2927242" y="0"/>
                  </a:lnTo>
                  <a:cubicBezTo>
                    <a:pt x="2936485" y="0"/>
                    <a:pt x="2945349" y="3672"/>
                    <a:pt x="2951884" y="10207"/>
                  </a:cubicBezTo>
                  <a:cubicBezTo>
                    <a:pt x="2958420" y="16742"/>
                    <a:pt x="2962091" y="25606"/>
                    <a:pt x="2962091" y="34849"/>
                  </a:cubicBezTo>
                  <a:lnTo>
                    <a:pt x="2962091" y="319106"/>
                  </a:lnTo>
                  <a:cubicBezTo>
                    <a:pt x="2962091" y="338353"/>
                    <a:pt x="2946489" y="353955"/>
                    <a:pt x="2927242" y="353955"/>
                  </a:cubicBezTo>
                  <a:lnTo>
                    <a:pt x="34849" y="353955"/>
                  </a:lnTo>
                  <a:cubicBezTo>
                    <a:pt x="25606" y="353955"/>
                    <a:pt x="16742" y="350284"/>
                    <a:pt x="10207" y="343748"/>
                  </a:cubicBezTo>
                  <a:cubicBezTo>
                    <a:pt x="3672" y="337213"/>
                    <a:pt x="0" y="328349"/>
                    <a:pt x="0" y="319106"/>
                  </a:cubicBezTo>
                  <a:lnTo>
                    <a:pt x="0" y="34849"/>
                  </a:lnTo>
                  <a:cubicBezTo>
                    <a:pt x="0" y="25606"/>
                    <a:pt x="3672" y="16742"/>
                    <a:pt x="10207" y="10207"/>
                  </a:cubicBezTo>
                  <a:cubicBezTo>
                    <a:pt x="16742" y="3672"/>
                    <a:pt x="25606" y="0"/>
                    <a:pt x="348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62091" cy="392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71030" y="2536714"/>
            <a:ext cx="6545941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GRUPO 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27709" y="3910494"/>
            <a:ext cx="10632583" cy="140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33"/>
              </a:lnSpc>
            </a:pPr>
            <a:r>
              <a:rPr lang="en-US" sz="8167" spc="89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Lautaro Berruezo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0321493">
            <a:off x="83383" y="-1874348"/>
            <a:ext cx="4420195" cy="4114800"/>
          </a:xfrm>
          <a:custGeom>
            <a:avLst/>
            <a:gdLst/>
            <a:ahLst/>
            <a:cxnLst/>
            <a:rect r="r" b="b" t="t" l="l"/>
            <a:pathLst>
              <a:path h="4114800" w="4420195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321493">
            <a:off x="12250194" y="8229600"/>
            <a:ext cx="4420195" cy="4114800"/>
          </a:xfrm>
          <a:custGeom>
            <a:avLst/>
            <a:gdLst/>
            <a:ahLst/>
            <a:cxnLst/>
            <a:rect r="r" b="b" t="t" l="l"/>
            <a:pathLst>
              <a:path h="4114800" w="4420195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23157" y="1352844"/>
            <a:ext cx="8641686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ÍNDICE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04923" y="2522940"/>
            <a:ext cx="9078154" cy="477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39" indent="-496570" lvl="1">
              <a:lnSpc>
                <a:spcPts val="6301"/>
              </a:lnSpc>
              <a:buFont typeface="Arial"/>
              <a:buChar char="•"/>
            </a:pPr>
            <a:r>
              <a:rPr lang="en-US" sz="4599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Introducción</a:t>
            </a:r>
          </a:p>
          <a:p>
            <a:pPr algn="l" marL="993139" indent="-496570" lvl="1">
              <a:lnSpc>
                <a:spcPts val="6301"/>
              </a:lnSpc>
              <a:buFont typeface="Arial"/>
              <a:buChar char="•"/>
            </a:pPr>
            <a:r>
              <a:rPr lang="en-US" sz="4599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Concepto y experiencia del jugador</a:t>
            </a:r>
          </a:p>
          <a:p>
            <a:pPr algn="l" marL="993139" indent="-496570" lvl="1">
              <a:lnSpc>
                <a:spcPts val="6301"/>
              </a:lnSpc>
              <a:buFont typeface="Arial"/>
              <a:buChar char="•"/>
            </a:pPr>
            <a:r>
              <a:rPr lang="en-US" sz="4599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Flujo del jugador</a:t>
            </a:r>
          </a:p>
          <a:p>
            <a:pPr algn="l" marL="993139" indent="-496570" lvl="1">
              <a:lnSpc>
                <a:spcPts val="6301"/>
              </a:lnSpc>
              <a:buFont typeface="Arial"/>
              <a:buChar char="•"/>
            </a:pPr>
            <a:r>
              <a:rPr lang="en-US" sz="4599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Arquitectura API REST</a:t>
            </a:r>
          </a:p>
          <a:p>
            <a:pPr algn="l" marL="993139" indent="-496570" lvl="1">
              <a:lnSpc>
                <a:spcPts val="6301"/>
              </a:lnSpc>
              <a:buFont typeface="Arial"/>
              <a:buChar char="•"/>
            </a:pPr>
            <a:r>
              <a:rPr lang="en-US" sz="4599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Arquitectura WS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606576"/>
            <a:ext cx="5412105" cy="5073848"/>
          </a:xfrm>
          <a:custGeom>
            <a:avLst/>
            <a:gdLst/>
            <a:ahLst/>
            <a:cxnLst/>
            <a:rect r="r" b="b" t="t" l="l"/>
            <a:pathLst>
              <a:path h="5073848" w="5412105">
                <a:moveTo>
                  <a:pt x="0" y="0"/>
                </a:moveTo>
                <a:lnTo>
                  <a:pt x="5412105" y="0"/>
                </a:lnTo>
                <a:lnTo>
                  <a:pt x="5412105" y="5073848"/>
                </a:lnTo>
                <a:lnTo>
                  <a:pt x="0" y="5073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5322" y="1038225"/>
            <a:ext cx="10517519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introducción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846" y="3334806"/>
            <a:ext cx="9078154" cy="115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39" indent="-496570" lvl="1">
              <a:lnSpc>
                <a:spcPts val="4461"/>
              </a:lnSpc>
              <a:buFont typeface="Arial"/>
              <a:buChar char="•"/>
            </a:pPr>
            <a:r>
              <a:rPr lang="en-US" sz="4599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Inspirado en Bomberman retro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846" y="4623867"/>
            <a:ext cx="9078154" cy="115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39" indent="-496570" lvl="1">
              <a:lnSpc>
                <a:spcPts val="4461"/>
              </a:lnSpc>
              <a:buFont typeface="Arial"/>
              <a:buChar char="•"/>
            </a:pPr>
            <a:r>
              <a:rPr lang="en-US" sz="4599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Gameplay simple, pero efectivo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846" y="6115578"/>
            <a:ext cx="9078154" cy="591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39" indent="-496570" lvl="1">
              <a:lnSpc>
                <a:spcPts val="4461"/>
              </a:lnSpc>
              <a:buFont typeface="Arial"/>
              <a:buChar char="•"/>
            </a:pPr>
            <a:r>
              <a:rPr lang="en-US" sz="4599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Estética fácil de replicar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1917" y="6062600"/>
            <a:ext cx="2610250" cy="2167000"/>
          </a:xfrm>
          <a:custGeom>
            <a:avLst/>
            <a:gdLst/>
            <a:ahLst/>
            <a:cxnLst/>
            <a:rect r="r" b="b" t="t" l="l"/>
            <a:pathLst>
              <a:path h="2167000" w="2610250">
                <a:moveTo>
                  <a:pt x="0" y="0"/>
                </a:moveTo>
                <a:lnTo>
                  <a:pt x="2610250" y="0"/>
                </a:lnTo>
                <a:lnTo>
                  <a:pt x="2610250" y="2167000"/>
                </a:lnTo>
                <a:lnTo>
                  <a:pt x="0" y="216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53778" y="6119469"/>
            <a:ext cx="2500768" cy="2053262"/>
          </a:xfrm>
          <a:custGeom>
            <a:avLst/>
            <a:gdLst/>
            <a:ahLst/>
            <a:cxnLst/>
            <a:rect r="r" b="b" t="t" l="l"/>
            <a:pathLst>
              <a:path h="2053262" w="2500768">
                <a:moveTo>
                  <a:pt x="0" y="0"/>
                </a:moveTo>
                <a:lnTo>
                  <a:pt x="2500768" y="0"/>
                </a:lnTo>
                <a:lnTo>
                  <a:pt x="2500768" y="2053262"/>
                </a:lnTo>
                <a:lnTo>
                  <a:pt x="0" y="20532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87971" y="5395845"/>
            <a:ext cx="5263414" cy="4329158"/>
          </a:xfrm>
          <a:custGeom>
            <a:avLst/>
            <a:gdLst/>
            <a:ahLst/>
            <a:cxnLst/>
            <a:rect r="r" b="b" t="t" l="l"/>
            <a:pathLst>
              <a:path h="4329158" w="5263414">
                <a:moveTo>
                  <a:pt x="0" y="0"/>
                </a:moveTo>
                <a:lnTo>
                  <a:pt x="5263414" y="0"/>
                </a:lnTo>
                <a:lnTo>
                  <a:pt x="5263414" y="4329158"/>
                </a:lnTo>
                <a:lnTo>
                  <a:pt x="0" y="43291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77424" y="4681236"/>
            <a:ext cx="4962691" cy="4069407"/>
          </a:xfrm>
          <a:custGeom>
            <a:avLst/>
            <a:gdLst/>
            <a:ahLst/>
            <a:cxnLst/>
            <a:rect r="r" b="b" t="t" l="l"/>
            <a:pathLst>
              <a:path h="4069407" w="4962691">
                <a:moveTo>
                  <a:pt x="0" y="0"/>
                </a:moveTo>
                <a:lnTo>
                  <a:pt x="4962691" y="0"/>
                </a:lnTo>
                <a:lnTo>
                  <a:pt x="4962691" y="4069406"/>
                </a:lnTo>
                <a:lnTo>
                  <a:pt x="0" y="40694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367403" y="3859189"/>
            <a:ext cx="4590820" cy="3798903"/>
          </a:xfrm>
          <a:custGeom>
            <a:avLst/>
            <a:gdLst/>
            <a:ahLst/>
            <a:cxnLst/>
            <a:rect r="r" b="b" t="t" l="l"/>
            <a:pathLst>
              <a:path h="3798903" w="4590820">
                <a:moveTo>
                  <a:pt x="0" y="0"/>
                </a:moveTo>
                <a:lnTo>
                  <a:pt x="4590819" y="0"/>
                </a:lnTo>
                <a:lnTo>
                  <a:pt x="4590819" y="3798903"/>
                </a:lnTo>
                <a:lnTo>
                  <a:pt x="0" y="3798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352843"/>
            <a:ext cx="11930070" cy="186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CONCEPTO Y EXPERIENCIA DE JUEGO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86450" y="6876179"/>
            <a:ext cx="753045" cy="55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</a:pPr>
            <a:r>
              <a:rPr lang="en-US" sz="4285" b="true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VS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669534"/>
            <a:ext cx="10517519" cy="2084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Puzzle/Aventura 2D</a:t>
            </a:r>
          </a:p>
          <a:p>
            <a:pPr algn="l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Vista fija aérea por sala</a:t>
            </a:r>
          </a:p>
          <a:p>
            <a:pPr algn="l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Pixel art</a:t>
            </a:r>
          </a:p>
          <a:p>
            <a:pPr algn="l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2 Jugadores en línea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84703" y="3143518"/>
            <a:ext cx="114687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Lab1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87265" y="3875877"/>
            <a:ext cx="118844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Lab2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63960" y="4588125"/>
            <a:ext cx="119489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Lab3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24320" y="2539591"/>
            <a:ext cx="7439360" cy="6081677"/>
          </a:xfrm>
          <a:custGeom>
            <a:avLst/>
            <a:gdLst/>
            <a:ahLst/>
            <a:cxnLst/>
            <a:rect r="r" b="b" t="t" l="l"/>
            <a:pathLst>
              <a:path h="6081677" w="7439360">
                <a:moveTo>
                  <a:pt x="0" y="0"/>
                </a:moveTo>
                <a:lnTo>
                  <a:pt x="7439360" y="0"/>
                </a:lnTo>
                <a:lnTo>
                  <a:pt x="7439360" y="6081677"/>
                </a:lnTo>
                <a:lnTo>
                  <a:pt x="0" y="60816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114300" cap="sq">
            <a:solidFill>
              <a:srgbClr val="80FFBA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833744"/>
            <a:ext cx="11930070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Flujo del jugador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85241" y="9035034"/>
            <a:ext cx="10517519" cy="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</a:pPr>
            <a:r>
              <a:rPr lang="en-US" b="true" sz="4200" u="sng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Pantalla de login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362272"/>
            <a:ext cx="7457250" cy="6077658"/>
          </a:xfrm>
          <a:custGeom>
            <a:avLst/>
            <a:gdLst/>
            <a:ahLst/>
            <a:cxnLst/>
            <a:rect r="r" b="b" t="t" l="l"/>
            <a:pathLst>
              <a:path h="6077658" w="7457250">
                <a:moveTo>
                  <a:pt x="0" y="0"/>
                </a:moveTo>
                <a:lnTo>
                  <a:pt x="7457250" y="0"/>
                </a:lnTo>
                <a:lnTo>
                  <a:pt x="7457250" y="6077658"/>
                </a:lnTo>
                <a:lnTo>
                  <a:pt x="0" y="60776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114300" cap="sq">
            <a:solidFill>
              <a:srgbClr val="80FFBA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802050" y="2362272"/>
            <a:ext cx="7457250" cy="6077658"/>
          </a:xfrm>
          <a:custGeom>
            <a:avLst/>
            <a:gdLst/>
            <a:ahLst/>
            <a:cxnLst/>
            <a:rect r="r" b="b" t="t" l="l"/>
            <a:pathLst>
              <a:path h="6077658" w="7457250">
                <a:moveTo>
                  <a:pt x="0" y="0"/>
                </a:moveTo>
                <a:lnTo>
                  <a:pt x="7457250" y="0"/>
                </a:lnTo>
                <a:lnTo>
                  <a:pt x="7457250" y="6077658"/>
                </a:lnTo>
                <a:lnTo>
                  <a:pt x="0" y="60776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14300" cap="sq">
            <a:solidFill>
              <a:srgbClr val="80FFBA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833744"/>
            <a:ext cx="11930070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Flujo del jugador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85241" y="9035034"/>
            <a:ext cx="10517519" cy="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</a:pPr>
            <a:r>
              <a:rPr lang="en-US" b="true" sz="4200" u="sng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Menú principal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19410" y="2858107"/>
            <a:ext cx="7439360" cy="6081677"/>
          </a:xfrm>
          <a:custGeom>
            <a:avLst/>
            <a:gdLst/>
            <a:ahLst/>
            <a:cxnLst/>
            <a:rect r="r" b="b" t="t" l="l"/>
            <a:pathLst>
              <a:path h="6081677" w="7439360">
                <a:moveTo>
                  <a:pt x="0" y="0"/>
                </a:moveTo>
                <a:lnTo>
                  <a:pt x="7439360" y="0"/>
                </a:lnTo>
                <a:lnTo>
                  <a:pt x="7439360" y="6081677"/>
                </a:lnTo>
                <a:lnTo>
                  <a:pt x="0" y="60816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114300" cap="sq">
            <a:solidFill>
              <a:srgbClr val="80FFBA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833744"/>
            <a:ext cx="11930070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Flujo del jugador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85241" y="9035034"/>
            <a:ext cx="10517519" cy="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</a:pPr>
            <a:r>
              <a:rPr lang="en-US" b="true" sz="4200" u="sng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Selección de personaje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5112" y="2356254"/>
            <a:ext cx="7403882" cy="6089693"/>
          </a:xfrm>
          <a:custGeom>
            <a:avLst/>
            <a:gdLst/>
            <a:ahLst/>
            <a:cxnLst/>
            <a:rect r="r" b="b" t="t" l="l"/>
            <a:pathLst>
              <a:path h="6089693" w="7403882">
                <a:moveTo>
                  <a:pt x="0" y="0"/>
                </a:moveTo>
                <a:lnTo>
                  <a:pt x="7403883" y="0"/>
                </a:lnTo>
                <a:lnTo>
                  <a:pt x="7403883" y="6089694"/>
                </a:lnTo>
                <a:lnTo>
                  <a:pt x="0" y="60896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952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679382" y="2930747"/>
            <a:ext cx="3012627" cy="2470354"/>
          </a:xfrm>
          <a:custGeom>
            <a:avLst/>
            <a:gdLst/>
            <a:ahLst/>
            <a:cxnLst/>
            <a:rect r="r" b="b" t="t" l="l"/>
            <a:pathLst>
              <a:path h="2470354" w="3012627">
                <a:moveTo>
                  <a:pt x="0" y="0"/>
                </a:moveTo>
                <a:lnTo>
                  <a:pt x="3012627" y="0"/>
                </a:lnTo>
                <a:lnTo>
                  <a:pt x="3012627" y="2470354"/>
                </a:lnTo>
                <a:lnTo>
                  <a:pt x="0" y="24703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857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167716" y="6266472"/>
            <a:ext cx="2633808" cy="2179476"/>
          </a:xfrm>
          <a:custGeom>
            <a:avLst/>
            <a:gdLst/>
            <a:ahLst/>
            <a:cxnLst/>
            <a:rect r="r" b="b" t="t" l="l"/>
            <a:pathLst>
              <a:path h="2179476" w="2633808">
                <a:moveTo>
                  <a:pt x="0" y="0"/>
                </a:moveTo>
                <a:lnTo>
                  <a:pt x="2633808" y="0"/>
                </a:lnTo>
                <a:lnTo>
                  <a:pt x="2633808" y="2179476"/>
                </a:lnTo>
                <a:lnTo>
                  <a:pt x="0" y="21794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7620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-10283300">
            <a:off x="9041528" y="3185324"/>
            <a:ext cx="1235321" cy="1347729"/>
            <a:chOff x="0" y="0"/>
            <a:chExt cx="729297" cy="7956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9297" cy="795659"/>
            </a:xfrm>
            <a:custGeom>
              <a:avLst/>
              <a:gdLst/>
              <a:ahLst/>
              <a:cxnLst/>
              <a:rect r="r" b="b" t="t" l="l"/>
              <a:pathLst>
                <a:path h="795659" w="729297">
                  <a:moveTo>
                    <a:pt x="239386" y="168120"/>
                  </a:moveTo>
                  <a:lnTo>
                    <a:pt x="729297" y="168120"/>
                  </a:lnTo>
                  <a:lnTo>
                    <a:pt x="729297" y="627449"/>
                  </a:lnTo>
                  <a:lnTo>
                    <a:pt x="239373" y="627449"/>
                  </a:lnTo>
                  <a:lnTo>
                    <a:pt x="302255" y="795659"/>
                  </a:lnTo>
                  <a:lnTo>
                    <a:pt x="0" y="397829"/>
                  </a:lnTo>
                  <a:lnTo>
                    <a:pt x="302255" y="0"/>
                  </a:lnTo>
                  <a:lnTo>
                    <a:pt x="239386" y="168120"/>
                  </a:lnTo>
                  <a:close/>
                </a:path>
              </a:pathLst>
            </a:custGeom>
            <a:solidFill>
              <a:srgbClr val="608BC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0650" y="127000"/>
              <a:ext cx="608647" cy="503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833744"/>
            <a:ext cx="11930070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Flujo del jugador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85241" y="9035034"/>
            <a:ext cx="10517519" cy="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</a:pPr>
            <a:r>
              <a:rPr lang="en-US" b="true" sz="4200" u="sng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Laberintos</a:t>
            </a:r>
          </a:p>
        </p:txBody>
      </p:sp>
      <p:grpSp>
        <p:nvGrpSpPr>
          <p:cNvPr name="Group 12" id="12"/>
          <p:cNvGrpSpPr/>
          <p:nvPr/>
        </p:nvGrpSpPr>
        <p:grpSpPr>
          <a:xfrm rot="-7893002">
            <a:off x="14293131" y="4853277"/>
            <a:ext cx="1235321" cy="1347729"/>
            <a:chOff x="0" y="0"/>
            <a:chExt cx="729297" cy="7956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9297" cy="795659"/>
            </a:xfrm>
            <a:custGeom>
              <a:avLst/>
              <a:gdLst/>
              <a:ahLst/>
              <a:cxnLst/>
              <a:rect r="r" b="b" t="t" l="l"/>
              <a:pathLst>
                <a:path h="795659" w="729297">
                  <a:moveTo>
                    <a:pt x="239386" y="168120"/>
                  </a:moveTo>
                  <a:lnTo>
                    <a:pt x="729297" y="168120"/>
                  </a:lnTo>
                  <a:lnTo>
                    <a:pt x="729297" y="627449"/>
                  </a:lnTo>
                  <a:lnTo>
                    <a:pt x="239373" y="627449"/>
                  </a:lnTo>
                  <a:lnTo>
                    <a:pt x="302255" y="795659"/>
                  </a:lnTo>
                  <a:lnTo>
                    <a:pt x="0" y="397829"/>
                  </a:lnTo>
                  <a:lnTo>
                    <a:pt x="302255" y="0"/>
                  </a:lnTo>
                  <a:lnTo>
                    <a:pt x="239386" y="168120"/>
                  </a:lnTo>
                  <a:close/>
                </a:path>
              </a:pathLst>
            </a:custGeom>
            <a:solidFill>
              <a:srgbClr val="608BC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0650" y="127000"/>
              <a:ext cx="608647" cy="503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19854" y="2361267"/>
            <a:ext cx="7448292" cy="6079669"/>
          </a:xfrm>
          <a:custGeom>
            <a:avLst/>
            <a:gdLst/>
            <a:ahLst/>
            <a:cxnLst/>
            <a:rect r="r" b="b" t="t" l="l"/>
            <a:pathLst>
              <a:path h="6079669" w="7448292">
                <a:moveTo>
                  <a:pt x="0" y="0"/>
                </a:moveTo>
                <a:lnTo>
                  <a:pt x="7448292" y="0"/>
                </a:lnTo>
                <a:lnTo>
                  <a:pt x="7448292" y="6079668"/>
                </a:lnTo>
                <a:lnTo>
                  <a:pt x="0" y="6079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123825" cap="sq">
            <a:solidFill>
              <a:srgbClr val="75EEAC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833744"/>
            <a:ext cx="11930070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Flujo del jugador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85241" y="9035034"/>
            <a:ext cx="10517519" cy="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</a:pPr>
            <a:r>
              <a:rPr lang="en-US" b="true" sz="4200" u="sng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FIN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962" y="2834259"/>
            <a:ext cx="10578212" cy="366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350" indent="-356175" lvl="1">
              <a:lnSpc>
                <a:spcPts val="3200"/>
              </a:lnSpc>
              <a:buFont typeface="Arial"/>
              <a:buChar char="•"/>
            </a:pPr>
            <a:r>
              <a:rPr lang="en-US" b="true" sz="3299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Registro / login jugador </a:t>
            </a:r>
          </a:p>
          <a:p>
            <a:pPr algn="just" marL="1424700" indent="-474900" lvl="2">
              <a:lnSpc>
                <a:spcPts val="3200"/>
              </a:lnSpc>
              <a:buFont typeface="Arial"/>
              <a:buChar char="⚬"/>
            </a:pPr>
            <a:r>
              <a:rPr lang="en-US" b="true" sz="3299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POST </a:t>
            </a:r>
            <a:r>
              <a:rPr lang="en-US" sz="3299" i="true">
                <a:solidFill>
                  <a:srgbClr val="090147"/>
                </a:solidFill>
                <a:latin typeface="Krub Italics"/>
                <a:ea typeface="Krub Italics"/>
                <a:cs typeface="Krub Italics"/>
                <a:sym typeface="Krub Italics"/>
              </a:rPr>
              <a:t>/players</a:t>
            </a:r>
          </a:p>
          <a:p>
            <a:pPr algn="just" marL="2137049" indent="-534262" lvl="3">
              <a:lnSpc>
                <a:spcPts val="3200"/>
              </a:lnSpc>
              <a:buFont typeface="Arial"/>
              <a:buChar char="￭"/>
            </a:pPr>
            <a:r>
              <a:rPr lang="en-US" sz="3299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Crea el jugador en el servidor e inicializa puntuaciones</a:t>
            </a:r>
          </a:p>
          <a:p>
            <a:pPr algn="just" marL="1424700" indent="-474900" lvl="2">
              <a:lnSpc>
                <a:spcPts val="3200"/>
              </a:lnSpc>
              <a:buFont typeface="Arial"/>
              <a:buChar char="⚬"/>
            </a:pPr>
          </a:p>
          <a:p>
            <a:pPr algn="just" marL="712350" indent="-356175" lvl="1">
              <a:lnSpc>
                <a:spcPts val="3200"/>
              </a:lnSpc>
              <a:buFont typeface="Arial"/>
              <a:buChar char="•"/>
            </a:pPr>
            <a:r>
              <a:rPr lang="en-US" b="true" sz="3299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Consulta jugador</a:t>
            </a:r>
          </a:p>
          <a:p>
            <a:pPr algn="just" marL="1424700" indent="-474900" lvl="2">
              <a:lnSpc>
                <a:spcPts val="3200"/>
              </a:lnSpc>
              <a:buFont typeface="Arial"/>
              <a:buChar char="⚬"/>
            </a:pPr>
            <a:r>
              <a:rPr lang="en-US" b="true" sz="3299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GET </a:t>
            </a:r>
            <a:r>
              <a:rPr lang="en-US" sz="3299" i="true">
                <a:solidFill>
                  <a:srgbClr val="090147"/>
                </a:solidFill>
                <a:latin typeface="Krub Italics"/>
                <a:ea typeface="Krub Italics"/>
                <a:cs typeface="Krub Italics"/>
                <a:sym typeface="Krub Italics"/>
              </a:rPr>
              <a:t>/players/:nickname</a:t>
            </a:r>
          </a:p>
          <a:p>
            <a:pPr algn="just" marL="2137049" indent="-534262" lvl="3">
              <a:lnSpc>
                <a:spcPts val="3200"/>
              </a:lnSpc>
              <a:buFont typeface="Arial"/>
              <a:buChar char="￭"/>
            </a:pPr>
            <a:r>
              <a:rPr lang="en-US" sz="3299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Obtiene información del jugador para verificar estados.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044687" y="7201423"/>
            <a:ext cx="2500768" cy="2053262"/>
          </a:xfrm>
          <a:custGeom>
            <a:avLst/>
            <a:gdLst/>
            <a:ahLst/>
            <a:cxnLst/>
            <a:rect r="r" b="b" t="t" l="l"/>
            <a:pathLst>
              <a:path h="2053262" w="2500768">
                <a:moveTo>
                  <a:pt x="0" y="0"/>
                </a:moveTo>
                <a:lnTo>
                  <a:pt x="2500768" y="0"/>
                </a:lnTo>
                <a:lnTo>
                  <a:pt x="2500768" y="2053262"/>
                </a:lnTo>
                <a:lnTo>
                  <a:pt x="0" y="2053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5962" y="1352843"/>
            <a:ext cx="10578212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Arquitectura rest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45455" y="6976786"/>
            <a:ext cx="9197090" cy="258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CCFFD8"/>
                </a:solidFill>
                <a:latin typeface="Krub"/>
                <a:ea typeface="Krub"/>
                <a:cs typeface="Krub"/>
                <a:sym typeface="Krub"/>
              </a:rPr>
              <a:t>{</a:t>
            </a:r>
          </a:p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CCFFD8"/>
                </a:solidFill>
                <a:latin typeface="Krub"/>
                <a:ea typeface="Krub"/>
                <a:cs typeface="Krub"/>
                <a:sym typeface="Krub"/>
              </a:rPr>
              <a:t>  "nickname": "player1",</a:t>
            </a:r>
          </a:p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CCFFD8"/>
                </a:solidFill>
                <a:latin typeface="Krub"/>
                <a:ea typeface="Krub"/>
                <a:cs typeface="Krub"/>
                <a:sym typeface="Krub"/>
              </a:rPr>
              <a:t>  "wins": 3,</a:t>
            </a:r>
          </a:p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CCFFD8"/>
                </a:solidFill>
                <a:latin typeface="Krub"/>
                <a:ea typeface="Krub"/>
                <a:cs typeface="Krub"/>
                <a:sym typeface="Krub"/>
              </a:rPr>
              <a:t>  "losses": 1,</a:t>
            </a:r>
          </a:p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CCFFD8"/>
                </a:solidFill>
                <a:latin typeface="Krub"/>
                <a:ea typeface="Krub"/>
                <a:cs typeface="Krub"/>
                <a:sym typeface="Krub"/>
              </a:rPr>
              <a:t>  "createdAt": "2026-01-01T00:00:00.000Z"</a:t>
            </a:r>
          </a:p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CCFFD8"/>
                </a:solidFill>
                <a:latin typeface="Krub"/>
                <a:ea typeface="Krub"/>
                <a:cs typeface="Krub"/>
                <a:sym typeface="Krub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962" y="833744"/>
            <a:ext cx="10578212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Arquitectura rest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5962" y="2326148"/>
            <a:ext cx="13465452" cy="517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4"/>
              </a:lnSpc>
            </a:pPr>
          </a:p>
          <a:p>
            <a:pPr algn="just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Actualización de resultados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PUT</a:t>
            </a: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 </a:t>
            </a:r>
            <a:r>
              <a:rPr lang="en-US" sz="4200" i="true">
                <a:solidFill>
                  <a:srgbClr val="090147"/>
                </a:solidFill>
                <a:latin typeface="Krub Italics"/>
                <a:ea typeface="Krub Italics"/>
                <a:cs typeface="Krub Italics"/>
                <a:sym typeface="Krub Italics"/>
              </a:rPr>
              <a:t>/players/:nickname</a:t>
            </a:r>
          </a:p>
          <a:p>
            <a:pPr algn="just" marL="2720340" indent="-680085" lvl="3">
              <a:lnSpc>
                <a:spcPts val="4074"/>
              </a:lnSpc>
              <a:buFont typeface="Arial"/>
              <a:buChar char="￭"/>
            </a:pP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Actualiza victorias y derrotas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</a:p>
          <a:p>
            <a:pPr algn="just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Logout 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DELETE </a:t>
            </a:r>
            <a:r>
              <a:rPr lang="en-US" sz="4200" i="true">
                <a:solidFill>
                  <a:srgbClr val="090147"/>
                </a:solidFill>
                <a:latin typeface="Krub Italics"/>
                <a:ea typeface="Krub Italics"/>
                <a:cs typeface="Krub Italics"/>
                <a:sym typeface="Krub Italics"/>
              </a:rPr>
              <a:t>/players/:nickname</a:t>
            </a:r>
          </a:p>
          <a:p>
            <a:pPr algn="just" marL="2720340" indent="-680085" lvl="3">
              <a:lnSpc>
                <a:spcPts val="4074"/>
              </a:lnSpc>
              <a:buFont typeface="Arial"/>
              <a:buChar char="￭"/>
            </a:pP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Elimina al jugador del estado del servidor.</a:t>
            </a:r>
          </a:p>
          <a:p>
            <a:pPr algn="just">
              <a:lnSpc>
                <a:spcPts val="4074"/>
              </a:lnSpc>
            </a:pPr>
          </a:p>
          <a:p>
            <a:pPr algn="just">
              <a:lnSpc>
                <a:spcPts val="4074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1717" y="1957668"/>
            <a:ext cx="15215787" cy="4142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4"/>
              </a:lnSpc>
            </a:pPr>
          </a:p>
          <a:p>
            <a:pPr algn="just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M</a:t>
            </a: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atchmaking 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POST </a:t>
            </a:r>
            <a:r>
              <a:rPr lang="en-US" sz="4200" i="true">
                <a:solidFill>
                  <a:srgbClr val="090147"/>
                </a:solidFill>
                <a:latin typeface="Krub Italics"/>
                <a:ea typeface="Krub Italics"/>
                <a:cs typeface="Krub Italics"/>
                <a:sym typeface="Krub Italics"/>
              </a:rPr>
              <a:t>/queue</a:t>
            </a:r>
          </a:p>
          <a:p>
            <a:pPr algn="just" marL="2720340" indent="-680085" lvl="3">
              <a:lnSpc>
                <a:spcPts val="4074"/>
              </a:lnSpc>
              <a:buFont typeface="Arial"/>
              <a:buChar char="￭"/>
            </a:pP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Añade al jugador a la cola de matchmaking</a:t>
            </a:r>
          </a:p>
          <a:p>
            <a:pPr algn="just" marL="2720340" indent="-680085" lvl="3">
              <a:lnSpc>
                <a:spcPts val="4074"/>
              </a:lnSpc>
              <a:buFont typeface="Arial"/>
              <a:buChar char="￭"/>
            </a:pP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Servid</a:t>
            </a: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or crea </a:t>
            </a: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par</a:t>
            </a: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t</a:t>
            </a: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i</a:t>
            </a: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da </a:t>
            </a: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c</a:t>
            </a: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u</a:t>
            </a: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a</a:t>
            </a: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ndo hay dos jugadores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</a:p>
          <a:p>
            <a:pPr algn="just">
              <a:lnSpc>
                <a:spcPts val="4074"/>
              </a:lnSpc>
            </a:pPr>
          </a:p>
          <a:p>
            <a:pPr algn="just">
              <a:lnSpc>
                <a:spcPts val="407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073269"/>
            <a:ext cx="2500768" cy="2053262"/>
          </a:xfrm>
          <a:custGeom>
            <a:avLst/>
            <a:gdLst/>
            <a:ahLst/>
            <a:cxnLst/>
            <a:rect r="r" b="b" t="t" l="l"/>
            <a:pathLst>
              <a:path h="2053262" w="2500768">
                <a:moveTo>
                  <a:pt x="0" y="0"/>
                </a:moveTo>
                <a:lnTo>
                  <a:pt x="2500768" y="0"/>
                </a:lnTo>
                <a:lnTo>
                  <a:pt x="2500768" y="2053262"/>
                </a:lnTo>
                <a:lnTo>
                  <a:pt x="0" y="2053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79084" y="6099900"/>
            <a:ext cx="552514" cy="1026631"/>
          </a:xfrm>
          <a:custGeom>
            <a:avLst/>
            <a:gdLst/>
            <a:ahLst/>
            <a:cxnLst/>
            <a:rect r="r" b="b" t="t" l="l"/>
            <a:pathLst>
              <a:path h="1026631" w="552514">
                <a:moveTo>
                  <a:pt x="0" y="0"/>
                </a:moveTo>
                <a:lnTo>
                  <a:pt x="552514" y="0"/>
                </a:lnTo>
                <a:lnTo>
                  <a:pt x="552514" y="1026631"/>
                </a:lnTo>
                <a:lnTo>
                  <a:pt x="0" y="1026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27024" y="7411335"/>
            <a:ext cx="2162534" cy="2047838"/>
          </a:xfrm>
          <a:custGeom>
            <a:avLst/>
            <a:gdLst/>
            <a:ahLst/>
            <a:cxnLst/>
            <a:rect r="r" b="b" t="t" l="l"/>
            <a:pathLst>
              <a:path h="2047838" w="2162534">
                <a:moveTo>
                  <a:pt x="0" y="0"/>
                </a:moveTo>
                <a:lnTo>
                  <a:pt x="2162533" y="0"/>
                </a:lnTo>
                <a:lnTo>
                  <a:pt x="2162533" y="2047839"/>
                </a:lnTo>
                <a:lnTo>
                  <a:pt x="0" y="20478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464" t="0" r="-1630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28013" y="7411335"/>
            <a:ext cx="2230887" cy="2047838"/>
          </a:xfrm>
          <a:custGeom>
            <a:avLst/>
            <a:gdLst/>
            <a:ahLst/>
            <a:cxnLst/>
            <a:rect r="r" b="b" t="t" l="l"/>
            <a:pathLst>
              <a:path h="2047838" w="2230887">
                <a:moveTo>
                  <a:pt x="0" y="0"/>
                </a:moveTo>
                <a:lnTo>
                  <a:pt x="2230887" y="0"/>
                </a:lnTo>
                <a:lnTo>
                  <a:pt x="2230887" y="2047839"/>
                </a:lnTo>
                <a:lnTo>
                  <a:pt x="0" y="20478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351" t="0" r="-1526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5962" y="833744"/>
            <a:ext cx="10578212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Arquitectura rest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29468" y="5491570"/>
            <a:ext cx="9197090" cy="1302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CCFFD8"/>
                </a:solidFill>
                <a:latin typeface="Krub"/>
                <a:ea typeface="Krub"/>
                <a:cs typeface="Krub"/>
                <a:sym typeface="Krub"/>
              </a:rPr>
              <a:t>{</a:t>
            </a:r>
          </a:p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CCFFD8"/>
                </a:solidFill>
                <a:latin typeface="Krub"/>
                <a:ea typeface="Krub"/>
                <a:cs typeface="Krub"/>
                <a:sym typeface="Krub"/>
              </a:rPr>
              <a:t>  "matchFound": false</a:t>
            </a:r>
          </a:p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CCFFD8"/>
                </a:solidFill>
                <a:latin typeface="Krub"/>
                <a:ea typeface="Krub"/>
                <a:cs typeface="Krub"/>
                <a:sym typeface="Krub"/>
              </a:rPr>
              <a:t>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28781" y="7395587"/>
            <a:ext cx="9197090" cy="173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CCFFD8"/>
                </a:solidFill>
                <a:latin typeface="Krub"/>
                <a:ea typeface="Krub"/>
                <a:cs typeface="Krub"/>
                <a:sym typeface="Krub"/>
              </a:rPr>
              <a:t>{</a:t>
            </a:r>
          </a:p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CCFFD8"/>
                </a:solidFill>
                <a:latin typeface="Krub"/>
                <a:ea typeface="Krub"/>
                <a:cs typeface="Krub"/>
                <a:sym typeface="Krub"/>
              </a:rPr>
              <a:t>  "matchFound": true,</a:t>
            </a:r>
          </a:p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CCFFD8"/>
                </a:solidFill>
                <a:latin typeface="Krub"/>
                <a:ea typeface="Krub"/>
                <a:cs typeface="Krub"/>
                <a:sym typeface="Krub"/>
              </a:rPr>
              <a:t>  “matchId”: “uuid-del-match</a:t>
            </a:r>
          </a:p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CCFFD8"/>
                </a:solidFill>
                <a:latin typeface="Krub"/>
                <a:ea typeface="Krub"/>
                <a:cs typeface="Krub"/>
                <a:sym typeface="Krub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962" y="2751213"/>
            <a:ext cx="12943422" cy="619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4"/>
              </a:lnSpc>
            </a:pPr>
            <a:r>
              <a:rPr lang="en-US" b="true" sz="4200" u="sng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Conexión y lobby</a:t>
            </a:r>
          </a:p>
          <a:p>
            <a:pPr algn="just">
              <a:lnSpc>
                <a:spcPts val="4074"/>
              </a:lnSpc>
            </a:pPr>
          </a:p>
          <a:p>
            <a:pPr algn="just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Cliente emite: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match:join</a:t>
            </a:r>
          </a:p>
          <a:p>
            <a:pPr algn="just" marL="2720340" indent="-680085" lvl="3">
              <a:lnSpc>
                <a:spcPts val="4074"/>
              </a:lnSpc>
              <a:buFont typeface="Arial"/>
              <a:buChar char="￭"/>
            </a:pP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Cliente une a partida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match:selectColor y match:ready</a:t>
            </a: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 </a:t>
            </a:r>
          </a:p>
          <a:p>
            <a:pPr algn="just" marL="2720340" indent="-680085" lvl="3">
              <a:lnSpc>
                <a:spcPts val="4074"/>
              </a:lnSpc>
              <a:buFont typeface="Arial"/>
              <a:buChar char="￭"/>
            </a:pP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Modifican el estado del lobby</a:t>
            </a:r>
          </a:p>
          <a:p>
            <a:pPr algn="just">
              <a:lnSpc>
                <a:spcPts val="4074"/>
              </a:lnSpc>
            </a:pPr>
          </a:p>
          <a:p>
            <a:pPr algn="just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Cliente escucha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match:update</a:t>
            </a:r>
          </a:p>
          <a:p>
            <a:pPr algn="just" marL="2720340" indent="-680085" lvl="3">
              <a:lnSpc>
                <a:spcPts val="4074"/>
              </a:lnSpc>
              <a:buFont typeface="Arial"/>
              <a:buChar char="￭"/>
            </a:pP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Servidor sincroniza estado del lobby</a:t>
            </a:r>
          </a:p>
          <a:p>
            <a:pPr algn="just">
              <a:lnSpc>
                <a:spcPts val="407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310010" y="1862418"/>
            <a:ext cx="6616866" cy="5334848"/>
          </a:xfrm>
          <a:custGeom>
            <a:avLst/>
            <a:gdLst/>
            <a:ahLst/>
            <a:cxnLst/>
            <a:rect r="r" b="b" t="t" l="l"/>
            <a:pathLst>
              <a:path h="5334848" w="6616866">
                <a:moveTo>
                  <a:pt x="0" y="0"/>
                </a:moveTo>
                <a:lnTo>
                  <a:pt x="6616866" y="0"/>
                </a:lnTo>
                <a:lnTo>
                  <a:pt x="6616866" y="5334848"/>
                </a:lnTo>
                <a:lnTo>
                  <a:pt x="0" y="5334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5962" y="833744"/>
            <a:ext cx="10578212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Arquitectura ws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52234" y="3168607"/>
            <a:ext cx="7403882" cy="6089693"/>
          </a:xfrm>
          <a:custGeom>
            <a:avLst/>
            <a:gdLst/>
            <a:ahLst/>
            <a:cxnLst/>
            <a:rect r="r" b="b" t="t" l="l"/>
            <a:pathLst>
              <a:path h="6089693" w="7403882">
                <a:moveTo>
                  <a:pt x="0" y="0"/>
                </a:moveTo>
                <a:lnTo>
                  <a:pt x="7403882" y="0"/>
                </a:lnTo>
                <a:lnTo>
                  <a:pt x="7403882" y="6089693"/>
                </a:lnTo>
                <a:lnTo>
                  <a:pt x="0" y="6089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5962" y="3377184"/>
            <a:ext cx="9780535" cy="36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4"/>
              </a:lnSpc>
            </a:pPr>
            <a:r>
              <a:rPr lang="en-US" b="true" sz="4200" u="sng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Partida en tiempo real</a:t>
            </a:r>
          </a:p>
          <a:p>
            <a:pPr algn="just">
              <a:lnSpc>
                <a:spcPts val="4074"/>
              </a:lnSpc>
            </a:pPr>
          </a:p>
          <a:p>
            <a:pPr algn="just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player:move</a:t>
            </a:r>
          </a:p>
          <a:p>
            <a:pPr algn="just">
              <a:lnSpc>
                <a:spcPts val="4074"/>
              </a:lnSpc>
            </a:pPr>
          </a:p>
          <a:p>
            <a:pPr algn="just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player:sync</a:t>
            </a:r>
          </a:p>
          <a:p>
            <a:pPr algn="just">
              <a:lnSpc>
                <a:spcPts val="4074"/>
              </a:lnSpc>
            </a:pPr>
          </a:p>
          <a:p>
            <a:pPr algn="just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player:respawn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5962" y="833744"/>
            <a:ext cx="10578212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Arquitectura ws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3664686"/>
            <a:ext cx="7200957" cy="5868780"/>
          </a:xfrm>
          <a:custGeom>
            <a:avLst/>
            <a:gdLst/>
            <a:ahLst/>
            <a:cxnLst/>
            <a:rect r="r" b="b" t="t" l="l"/>
            <a:pathLst>
              <a:path h="5868780" w="7200957">
                <a:moveTo>
                  <a:pt x="0" y="0"/>
                </a:moveTo>
                <a:lnTo>
                  <a:pt x="7200957" y="0"/>
                </a:lnTo>
                <a:lnTo>
                  <a:pt x="7200957" y="5868779"/>
                </a:lnTo>
                <a:lnTo>
                  <a:pt x="0" y="5868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333833"/>
            <a:ext cx="7968784" cy="619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4"/>
              </a:lnSpc>
            </a:pPr>
            <a:r>
              <a:rPr lang="en-US" b="true" sz="4200" u="sng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Desconexiones</a:t>
            </a:r>
          </a:p>
          <a:p>
            <a:pPr algn="just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Servidor detecta: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Disconnect</a:t>
            </a:r>
          </a:p>
          <a:p>
            <a:pPr algn="just" marL="2720340" indent="-680085" lvl="3">
              <a:lnSpc>
                <a:spcPts val="4074"/>
              </a:lnSpc>
              <a:buFont typeface="Arial"/>
              <a:buChar char="￭"/>
            </a:pPr>
            <a:r>
              <a:rPr lang="en-US" sz="4200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Socket se cierra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</a:p>
          <a:p>
            <a:pPr algn="just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Servidor emite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player:disconnected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match:end</a:t>
            </a:r>
          </a:p>
          <a:p>
            <a:pPr algn="just">
              <a:lnSpc>
                <a:spcPts val="4074"/>
              </a:lnSpc>
            </a:pPr>
          </a:p>
          <a:p>
            <a:pPr algn="just" marL="906780" indent="-453390" lvl="1">
              <a:lnSpc>
                <a:spcPts val="4074"/>
              </a:lnSpc>
              <a:buFont typeface="Arial"/>
              <a:buChar char="•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Cliente recibe: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player:disconnected</a:t>
            </a:r>
          </a:p>
          <a:p>
            <a:pPr algn="just" marL="1813560" indent="-604520" lvl="2">
              <a:lnSpc>
                <a:spcPts val="4074"/>
              </a:lnSpc>
              <a:buFont typeface="Arial"/>
              <a:buChar char="⚬"/>
            </a:pPr>
            <a:r>
              <a:rPr lang="en-US" b="true" sz="4200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match:end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5962" y="833744"/>
            <a:ext cx="10578212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Arquitectura ws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93058" y="4633925"/>
            <a:ext cx="10578212" cy="10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DAG9o3x5Hi4</dc:identifier>
  <dcterms:modified xsi:type="dcterms:W3CDTF">2011-08-01T06:04:30Z</dcterms:modified>
  <cp:revision>1</cp:revision>
  <dc:title>Blue Modern Engineering Technology Group Project Presentation</dc:title>
</cp:coreProperties>
</file>